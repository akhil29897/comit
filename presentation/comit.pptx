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5E5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371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spc="300" kern="0" dirty="0">
                <a:solidFill>
                  <a:srgbClr val="D9F3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OPEN-SOURCE  ·  PRIVACY-FIRST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66928" y="1783080"/>
            <a:ext cx="8229600" cy="17556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comit</a:t>
            </a:r>
            <a:endParaRPr lang="en-US" sz="9600" dirty="0"/>
          </a:p>
        </p:txBody>
      </p:sp>
      <p:sp>
        <p:nvSpPr>
          <p:cNvPr id="4" name="Text 2"/>
          <p:cNvSpPr/>
          <p:nvPr/>
        </p:nvSpPr>
        <p:spPr>
          <a:xfrm>
            <a:off x="640080" y="320040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 to the people who matter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3977640"/>
            <a:ext cx="7680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9F3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work-life-balance companion for WhatsApp — interaction scores, reply-debt tracking and gentle nudges, computed entirely on your device.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8686800" y="1737360"/>
            <a:ext cx="1005840" cy="1005840"/>
          </a:xfrm>
          <a:prstGeom prst="ellipse">
            <a:avLst/>
          </a:prstGeom>
          <a:ln w="50800">
            <a:solidFill>
              <a:srgbClr val="3E8E8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686800" y="1737360"/>
            <a:ext cx="1005840" cy="1005840"/>
          </a:xfrm>
          <a:prstGeom prst="ellipse">
            <a:avLst/>
          </a:prstGeom>
          <a:ln w="508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686800" y="1737360"/>
            <a:ext cx="10058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84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9921240" y="2286000"/>
            <a:ext cx="822960" cy="822960"/>
          </a:xfrm>
          <a:prstGeom prst="ellipse">
            <a:avLst/>
          </a:prstGeom>
          <a:ln w="50800">
            <a:solidFill>
              <a:srgbClr val="3E8E8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921240" y="2286000"/>
            <a:ext cx="822960" cy="822960"/>
          </a:xfrm>
          <a:prstGeom prst="ellipse">
            <a:avLst/>
          </a:prstGeom>
          <a:ln w="50800">
            <a:solidFill>
              <a:srgbClr val="D9FDD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921240" y="228600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9601200" y="3383280"/>
            <a:ext cx="731520" cy="731520"/>
          </a:xfrm>
          <a:prstGeom prst="ellipse">
            <a:avLst/>
          </a:prstGeom>
          <a:ln w="50800">
            <a:solidFill>
              <a:srgbClr val="3E8E8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601200" y="3383280"/>
            <a:ext cx="731520" cy="731520"/>
          </a:xfrm>
          <a:prstGeom prst="ellipse">
            <a:avLst/>
          </a:prstGeom>
          <a:ln w="50800">
            <a:solidFill>
              <a:srgbClr val="BDEAD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601200" y="338328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40080" y="51206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9F3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Akhil Tripathi  ·  MIT licensed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E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spc="-50" kern="0" dirty="0">
                <a:solidFill>
                  <a:srgbClr val="111B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gap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640080" y="1554480"/>
            <a:ext cx="107899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111B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Messaging apps track what's </a:t>
            </a:r>
            <a:pPr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869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unread</a:t>
            </a:r>
            <a:pPr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111B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3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111B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say nothing about what's </a:t>
            </a:r>
            <a:endParaRPr lang="en-US" sz="3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EA43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unreplied</a:t>
            </a:r>
            <a:pPr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111B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3291840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5D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✦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051560" y="329184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11B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friend you used to text weekly, now silent for two months.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640080" y="3886200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5D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✦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051560" y="38862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11B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reply you've owed your mother for three days.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640080" y="4480560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5D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✦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51560" y="448056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11B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chatter that quietly took over your evenings.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640080" y="598932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drift, and we don't notice until it's a pattern.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E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spc="-50" kern="0" dirty="0">
                <a:solidFill>
                  <a:srgbClr val="111B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comit does</a:t>
            </a:r>
            <a:endParaRPr lang="en-US" sz="3800" dirty="0"/>
          </a:p>
        </p:txBody>
      </p:sp>
      <p:sp>
        <p:nvSpPr>
          <p:cNvPr id="3" name="Shape 1"/>
          <p:cNvSpPr/>
          <p:nvPr/>
        </p:nvSpPr>
        <p:spPr>
          <a:xfrm>
            <a:off x="640080" y="1508760"/>
            <a:ext cx="3566160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12700">
            <a:solidFill>
              <a:srgbClr val="E2DDD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" y="1783080"/>
            <a:ext cx="310896" cy="310896"/>
          </a:xfrm>
          <a:prstGeom prst="ellipse">
            <a:avLst/>
          </a:prstGeom>
          <a:solidFill>
            <a:srgbClr val="25D366"/>
          </a:solidFill>
          <a:ln w="12700">
            <a:solidFill>
              <a:srgbClr val="25D36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219456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11B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Interaction Score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914400" y="2587752"/>
            <a:ext cx="30175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transparent 0–100 health score per contact: recency, frequency, reciprocity, responsiveness, who-starts.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453128" y="1508760"/>
            <a:ext cx="3566160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12700">
            <a:solidFill>
              <a:srgbClr val="E2DDD5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727448" y="1783080"/>
            <a:ext cx="310896" cy="310896"/>
          </a:xfrm>
          <a:prstGeom prst="ellipse">
            <a:avLst/>
          </a:prstGeom>
          <a:solidFill>
            <a:srgbClr val="F4A300"/>
          </a:solidFill>
          <a:ln w="12700">
            <a:solidFill>
              <a:srgbClr val="F4A3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727448" y="219456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11B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Reply Debt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4727448" y="2587752"/>
            <a:ext cx="30175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you owe a reply, and for how long. “Amma, 3 days.”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8266176" y="1508760"/>
            <a:ext cx="3566160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12700">
            <a:solidFill>
              <a:srgbClr val="E2DDD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540496" y="1783080"/>
            <a:ext cx="310896" cy="310896"/>
          </a:xfrm>
          <a:prstGeom prst="ellipse">
            <a:avLst/>
          </a:prstGeom>
          <a:solidFill>
            <a:srgbClr val="34B7F1"/>
          </a:solidFill>
          <a:ln w="12700">
            <a:solidFill>
              <a:srgbClr val="34B7F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540496" y="219456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11B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Work-Life Balance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8540496" y="2587752"/>
            <a:ext cx="30175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vs personal split, after-hours work, your late-night pingers.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40080" y="3749040"/>
            <a:ext cx="3566160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12700">
            <a:solidFill>
              <a:srgbClr val="E2DDD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14400" y="4023360"/>
            <a:ext cx="310896" cy="310896"/>
          </a:xfrm>
          <a:prstGeom prst="ellipse">
            <a:avLst/>
          </a:prstGeom>
          <a:solidFill>
            <a:srgbClr val="128C7E"/>
          </a:solidFill>
          <a:ln w="12700">
            <a:solidFill>
              <a:srgbClr val="128C7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443484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11B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Momentum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914400" y="4828032"/>
            <a:ext cx="30175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Who's heating up, who's going quiet — before it's too late.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453128" y="3749040"/>
            <a:ext cx="3566160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12700">
            <a:solidFill>
              <a:srgbClr val="E2DDD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727448" y="4023360"/>
            <a:ext cx="310896" cy="310896"/>
          </a:xfrm>
          <a:prstGeom prst="ellipse">
            <a:avLst/>
          </a:prstGeom>
          <a:solidFill>
            <a:srgbClr val="008069"/>
          </a:solidFill>
          <a:ln w="12700">
            <a:solidFill>
              <a:srgbClr val="008069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727448" y="443484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11B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Nudges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4727448" y="4828032"/>
            <a:ext cx="30175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ranked, plain-language to-do list that ties it all together.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E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spc="-50" kern="0" dirty="0">
                <a:solidFill>
                  <a:srgbClr val="111B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just runs</a:t>
            </a:r>
            <a:endParaRPr lang="en-US" sz="3800" dirty="0"/>
          </a:p>
        </p:txBody>
      </p:sp>
      <p:sp>
        <p:nvSpPr>
          <p:cNvPr id="3" name="Shape 1"/>
          <p:cNvSpPr/>
          <p:nvPr/>
        </p:nvSpPr>
        <p:spPr>
          <a:xfrm>
            <a:off x="640080" y="1463040"/>
            <a:ext cx="10881360" cy="4206240"/>
          </a:xfrm>
          <a:prstGeom prst="roundRect">
            <a:avLst>
              <a:gd name="adj" fmla="val 2174"/>
            </a:avLst>
          </a:prstGeom>
          <a:solidFill>
            <a:srgbClr val="0B1F1A"/>
          </a:solidFill>
          <a:ln w="12700">
            <a:solidFill>
              <a:srgbClr val="1D3B3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14400" y="1691640"/>
            <a:ext cx="10332720" cy="3749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6F857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bun run demo
</a:t>
            </a:r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5D3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comit</a:t>
            </a:r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D7E3D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·  6 conversations · 321 messages · 90-day window
</a:t>
            </a:r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355C5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nudges --------------------------------------------
</a:t>
            </a:r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!  </a:t>
            </a:r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D7E3D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Vinay (work) reached you after hours 44x recently.
</a:t>
            </a:r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F4A3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  </a:t>
            </a:r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D7E3D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You owe Amma a reply - waiting 3 days.
</a:t>
            </a:r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34B7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  </a:t>
            </a:r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D7E3D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Amma is cooling off: ~10.9/wk -&gt; ~2.0/wk. Reach out?
</a:t>
            </a:r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25D3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  </a:t>
            </a:r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D7E3D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Your replies to Karan take ~15h on average.
</a:t>
            </a:r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355C5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balance -------------------------------------------
</a:t>
            </a:r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D7E3D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work vs personal   </a:t>
            </a:r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25D3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######</a:t>
            </a:r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6F857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------------ 35% work
</a:t>
            </a:r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D7E3D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after-hours work   </a:t>
            </a:r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66</a:t>
            </a:r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D7E3D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messages (64% of work chatter)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640080" y="598932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…or open the offline dashboard with  bun run web.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E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spc="-50" kern="0" dirty="0">
                <a:solidFill>
                  <a:srgbClr val="111B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Transparent by design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640080" y="146304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5B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black boxes. The interaction score is a documented, tunable formula: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10881360" cy="2377440"/>
          </a:xfrm>
          <a:prstGeom prst="roundRect">
            <a:avLst>
              <a:gd name="adj" fmla="val 3846"/>
            </a:avLst>
          </a:prstGeom>
          <a:solidFill>
            <a:srgbClr val="0B1F1A"/>
          </a:solidFill>
          <a:ln w="12700">
            <a:solidFill>
              <a:srgbClr val="1D3B3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2514600"/>
            <a:ext cx="1033272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D7E3D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score = 100 × (  </a:t>
            </a:r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25D3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0.30·recency
</a:t>
            </a:r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D7E3D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+ </a:t>
            </a:r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128C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0.25·frequency
</a:t>
            </a:r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D7E3D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+ </a:t>
            </a:r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34B7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0.20·reciprocity
</a:t>
            </a:r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D7E3D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+ </a:t>
            </a:r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1FB5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0.15·responsiveness
</a:t>
            </a:r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D7E3D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+ </a:t>
            </a:r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F4A3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0.10·initiation</a:t>
            </a:r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D7E3D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)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640080" y="598932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constant is exported and overridable. Change one, re-run the tests, see exactly what moves.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E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spc="-50" kern="0" dirty="0">
                <a:solidFill>
                  <a:srgbClr val="111B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part that matters most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640080" y="173736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11B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messages </a:t>
            </a:r>
            <a:pPr indent="0" marL="0">
              <a:buNone/>
            </a:pPr>
            <a:r>
              <a:rPr lang="en-US" sz="3600" b="1" dirty="0">
                <a:solidFill>
                  <a:srgbClr val="0080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leave your device.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640080" y="2926080"/>
            <a:ext cx="1719072" cy="502920"/>
          </a:xfrm>
          <a:prstGeom prst="roundRect">
            <a:avLst>
              <a:gd name="adj" fmla="val 49091"/>
            </a:avLst>
          </a:prstGeom>
          <a:solidFill>
            <a:srgbClr val="FFFFFF"/>
          </a:solidFill>
          <a:ln w="12700">
            <a:solidFill>
              <a:srgbClr val="E2DDD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2926080"/>
            <a:ext cx="171907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11B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 offline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587752" y="2926080"/>
            <a:ext cx="1613916" cy="502920"/>
          </a:xfrm>
          <a:prstGeom prst="roundRect">
            <a:avLst>
              <a:gd name="adj" fmla="val 49091"/>
            </a:avLst>
          </a:prstGeom>
          <a:solidFill>
            <a:srgbClr val="FFFFFF"/>
          </a:solidFill>
          <a:ln w="12700">
            <a:solidFill>
              <a:srgbClr val="E2DDD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587752" y="2926080"/>
            <a:ext cx="161391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11B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accounts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430268" y="2926080"/>
            <a:ext cx="1508760" cy="502920"/>
          </a:xfrm>
          <a:prstGeom prst="roundRect">
            <a:avLst>
              <a:gd name="adj" fmla="val 49091"/>
            </a:avLst>
          </a:prstGeom>
          <a:solidFill>
            <a:srgbClr val="FFFFFF"/>
          </a:solidFill>
          <a:ln w="12700">
            <a:solidFill>
              <a:srgbClr val="E2DDD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430268" y="2926080"/>
            <a:ext cx="1508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11B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servers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167628" y="2926080"/>
            <a:ext cx="1719072" cy="502920"/>
          </a:xfrm>
          <a:prstGeom prst="roundRect">
            <a:avLst>
              <a:gd name="adj" fmla="val 49091"/>
            </a:avLst>
          </a:prstGeom>
          <a:solidFill>
            <a:srgbClr val="FFFFFF"/>
          </a:solidFill>
          <a:ln w="12700">
            <a:solidFill>
              <a:srgbClr val="E2DDD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167628" y="2926080"/>
            <a:ext cx="171907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11B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telemetry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8115300" y="2926080"/>
            <a:ext cx="2244852" cy="502920"/>
          </a:xfrm>
          <a:prstGeom prst="roundRect">
            <a:avLst>
              <a:gd name="adj" fmla="val 49091"/>
            </a:avLst>
          </a:prstGeom>
          <a:solidFill>
            <a:srgbClr val="FFFFFF"/>
          </a:solidFill>
          <a:ln w="12700">
            <a:solidFill>
              <a:srgbClr val="E2DDD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115300" y="2926080"/>
            <a:ext cx="224485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11B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runtime deps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40080" y="3611880"/>
            <a:ext cx="4137660" cy="502920"/>
          </a:xfrm>
          <a:prstGeom prst="roundRect">
            <a:avLst>
              <a:gd name="adj" fmla="val 49091"/>
            </a:avLst>
          </a:prstGeom>
          <a:solidFill>
            <a:srgbClr val="FFFFFF"/>
          </a:solidFill>
          <a:ln w="12700">
            <a:solidFill>
              <a:srgbClr val="E2DDD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" y="3611880"/>
            <a:ext cx="41376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11B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 only, never writes your chats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40080" y="493776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B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comit makes </a:t>
            </a:r>
            <a:pPr indent="0" marL="0">
              <a:buNone/>
            </a:pPr>
            <a:r>
              <a:rPr lang="en-US" sz="1600" b="1" dirty="0">
                <a:solidFill>
                  <a:srgbClr val="111B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network requests at all</a:t>
            </a:r>
            <a:pPr indent="0" marL="0">
              <a:buNone/>
            </a:pPr>
            <a:r>
              <a:rPr lang="en-US" sz="1600" dirty="0">
                <a:solidFill>
                  <a:srgbClr val="5B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even the dashboard's fonts and charts are self-hosted. Auditable in an afternoon.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E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spc="-50" kern="0" dirty="0">
                <a:solidFill>
                  <a:srgbClr val="111B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it's built</a:t>
            </a:r>
            <a:endParaRPr lang="en-US" sz="3800" dirty="0"/>
          </a:p>
        </p:txBody>
      </p:sp>
      <p:sp>
        <p:nvSpPr>
          <p:cNvPr id="3" name="Shape 1"/>
          <p:cNvSpPr/>
          <p:nvPr/>
        </p:nvSpPr>
        <p:spPr>
          <a:xfrm>
            <a:off x="640080" y="1463040"/>
            <a:ext cx="10881360" cy="3566160"/>
          </a:xfrm>
          <a:prstGeom prst="roundRect">
            <a:avLst>
              <a:gd name="adj" fmla="val 2564"/>
            </a:avLst>
          </a:prstGeom>
          <a:solidFill>
            <a:srgbClr val="0B1F1A"/>
          </a:solidFill>
          <a:ln w="12700">
            <a:solidFill>
              <a:srgbClr val="1D3B3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14400" y="1737360"/>
            <a:ext cx="10332720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D7E3D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WhatsApp .txt export
          |
          v
</a:t>
            </a:r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6F857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+--------------+   pure, deterministic   +------------------------+
</a:t>
            </a:r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D7E3D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| DataSource   | ----------------------&gt; |  analytics engine      |
</a:t>
            </a:r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D7E3D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| export parser|   (no I/O, no clock)    |  score.debt.balance    |
</a:t>
            </a:r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6F857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+--------------+                         |  .trends.nudges        |
</a:t>
            </a:r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6F857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^                                 +-----------+------------+
</a:t>
            </a:r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25D3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future: live                          +--------------+-----------+
</a:t>
            </a:r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25D3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Baileys adapter                       v                          v
</a:t>
            </a:r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D7E3D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        CLI report               Dashboard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640080" y="598932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pure core. One I/O seam. A live data source could plug in without touching a line of analytics.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E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spc="-50" kern="0" dirty="0">
                <a:solidFill>
                  <a:srgbClr val="111B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engineering</a:t>
            </a:r>
            <a:endParaRPr lang="en-US" sz="3800" dirty="0"/>
          </a:p>
        </p:txBody>
      </p:sp>
      <p:sp>
        <p:nvSpPr>
          <p:cNvPr id="3" name="Shape 1"/>
          <p:cNvSpPr/>
          <p:nvPr/>
        </p:nvSpPr>
        <p:spPr>
          <a:xfrm>
            <a:off x="640080" y="1508760"/>
            <a:ext cx="2606040" cy="155448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E2DDD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691640"/>
            <a:ext cx="26060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0080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4600" dirty="0"/>
          </a:p>
        </p:txBody>
      </p:sp>
      <p:sp>
        <p:nvSpPr>
          <p:cNvPr id="5" name="Text 3"/>
          <p:cNvSpPr/>
          <p:nvPr/>
        </p:nvSpPr>
        <p:spPr>
          <a:xfrm>
            <a:off x="640080" y="2532888"/>
            <a:ext cx="2606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runtime dependencies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520440" y="1508760"/>
            <a:ext cx="2606040" cy="155448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E2DDD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520440" y="1691640"/>
            <a:ext cx="26060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0080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3520440" y="2532888"/>
            <a:ext cx="2606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passing tests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0" y="1508760"/>
            <a:ext cx="2606040" cy="155448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E2DDD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0" y="1691640"/>
            <a:ext cx="26060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0080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4600" dirty="0"/>
          </a:p>
        </p:txBody>
      </p:sp>
      <p:sp>
        <p:nvSpPr>
          <p:cNvPr id="11" name="Text 9"/>
          <p:cNvSpPr/>
          <p:nvPr/>
        </p:nvSpPr>
        <p:spPr>
          <a:xfrm>
            <a:off x="6400800" y="2532888"/>
            <a:ext cx="2606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composable analytics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9281160" y="1508760"/>
            <a:ext cx="2606040" cy="155448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E2DDD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281160" y="1691640"/>
            <a:ext cx="26060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0080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4600" dirty="0"/>
          </a:p>
        </p:txBody>
      </p:sp>
      <p:sp>
        <p:nvSpPr>
          <p:cNvPr id="14" name="Text 12"/>
          <p:cNvSpPr/>
          <p:nvPr/>
        </p:nvSpPr>
        <p:spPr>
          <a:xfrm>
            <a:off x="9281160" y="2532888"/>
            <a:ext cx="2606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interfaces (CLI + web)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40080" y="3566160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5D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✦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051560" y="356616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B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TypeScript, strict mode, runs on Bun with no build step.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640080" y="4133088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5D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✦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051560" y="4133088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B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Pure core → fast, deterministic, exhaustively testable.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640080" y="4700016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5D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✦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1051560" y="4700016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B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adapter interface for new sources (Telegram, Signal, iMessage).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640080" y="5266944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5D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✦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1051560" y="5266944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B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CI, docs, and a deterministic synthetic-data generator.</a:t>
            </a:r>
            <a:endParaRPr lang="en-US" sz="1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E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spc="-50" kern="0" dirty="0">
                <a:solidFill>
                  <a:srgbClr val="111B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it goes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640080" y="1737360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5D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✦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051560" y="1737360"/>
            <a:ext cx="103327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11B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importers</a:t>
            </a:r>
            <a:pPr indent="0" marL="0">
              <a:buNone/>
            </a:pPr>
            <a:r>
              <a:rPr lang="en-US" sz="1800" dirty="0">
                <a:solidFill>
                  <a:srgbClr val="5B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Telegram, Signal, iMessage, each just a new DataSource.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2606040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5D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✦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051560" y="2606040"/>
            <a:ext cx="103327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11B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Opt-in live source</a:t>
            </a:r>
            <a:pPr indent="0" marL="0">
              <a:buNone/>
            </a:pPr>
            <a:r>
              <a:rPr lang="en-US" sz="1800" dirty="0">
                <a:solidFill>
                  <a:srgbClr val="5B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via Baileys — clearly flagged, never a default, because privacy-first means the user makes that call.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40080" y="3474720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5D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✦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051560" y="3474720"/>
            <a:ext cx="103327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11B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digest</a:t>
            </a:r>
            <a:pPr indent="0" marL="0">
              <a:buNone/>
            </a:pPr>
            <a:r>
              <a:rPr lang="en-US" sz="1800" dirty="0">
                <a:solidFill>
                  <a:srgbClr val="5B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a per-contact deep-dive in the dashboard.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40080" y="4343400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5D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✦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051560" y="4343400"/>
            <a:ext cx="103327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11B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Configurable</a:t>
            </a:r>
            <a:pPr indent="0" marL="0">
              <a:buNone/>
            </a:pPr>
            <a:r>
              <a:rPr lang="en-US" sz="1800" dirty="0">
                <a:solidFill>
                  <a:srgbClr val="5B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scoring weights and nudge rules.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640080" y="598932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to be forked. Good first issues are tagged.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75E5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011680"/>
            <a:ext cx="8229600" cy="17556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comit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640080" y="342900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 to the people who matter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41148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FE9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github.com/takhil/comit  ·  MIT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75488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9F3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small daily commit — to your relationships, and your off-hours.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comit</dc:title>
  <dc:subject>PptxGenJS Presentation</dc:subject>
  <dc:creator>Akhil Tripathi</dc:creator>
  <cp:lastModifiedBy>Akhil Tripathi</cp:lastModifiedBy>
  <cp:revision>1</cp:revision>
  <dcterms:created xsi:type="dcterms:W3CDTF">2026-06-25T07:43:28Z</dcterms:created>
  <dcterms:modified xsi:type="dcterms:W3CDTF">2026-06-25T07:43:28Z</dcterms:modified>
</cp:coreProperties>
</file>